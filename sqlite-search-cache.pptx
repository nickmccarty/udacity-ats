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lesson solves a cost and latency problem invisible in single-session exercises, but dominant in production auto-research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SHA-256 keyed SQLite cache; sessions 2-N make 0 API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sessions, four queries each. Run before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calls, only 4 novel. 108 redundant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SHA-256 is case- and whitespace-sensitive. Normalise before hashing.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.lower() -&gt; .split() -&gt; ' '.join() -&gt; sha256()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lines: get() hit check, print HIT/MISS, search_fn call, put().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Callable, no empty cache, TTL per type, structured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 is correct. Normalise with ' '.join(query.lower().split()) before hashing.</a:t>
            </a:r>
          </a:p>
          <a:p>
            <a:r>
              <a:t>A: LIKE on a hash column matches nothing. C: TTL != key identity. D: raw strings don't fix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Explain, normalise, implement, wrap -- all in one-line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watching. Full materials in micro-lesson/course-4/.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6858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0" cy="91440"/>
          </a:xfrm>
          <a:prstGeom prst="rect">
            <a:avLst/>
          </a:prstGeom>
          <a:solidFill>
            <a:srgbClr val="171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28800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329184"/>
            <a:ext cx="2926080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36576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Open San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0" y="3840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88AA"/>
                </a:solidFill>
                <a:latin typeface="Open Sans"/>
              </a:rPr>
              <a:t>Slide 1 of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1691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171A53"/>
                </a:solidFill>
                <a:latin typeface="Open Sans"/>
              </a:rPr>
              <a:t>A cost &amp; latency problem
invisible in single-session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34640"/>
            <a:ext cx="1234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444466"/>
                </a:solidFill>
                <a:latin typeface="Open Sans"/>
              </a:rPr>
              <a:t>Multi-session auto-research re-issues the same web search queries on every loop -- burning API credits, hitting rate limits, adding latency per session with identical round trips.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931920"/>
            <a:ext cx="5394960" cy="5394960"/>
          </a:xfrm>
          <a:prstGeom prst="rect">
            <a:avLst/>
          </a:prstGeom>
          <a:solidFill>
            <a:srgbClr val="F6F6F6"/>
          </a:solidFill>
          <a:ln w="635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931920"/>
            <a:ext cx="5394960" cy="502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06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Open Sans"/>
              </a:rPr>
              <a:t>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548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444466"/>
                </a:solidFill>
                <a:latin typeface="Open Sans"/>
              </a:rPr>
              <a:t>API credits consumed for results already retrieved in session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3931920"/>
            <a:ext cx="5394960" cy="5394960"/>
          </a:xfrm>
          <a:prstGeom prst="rect">
            <a:avLst/>
          </a:prstGeom>
          <a:solidFill>
            <a:srgbClr val="F6F6F6"/>
          </a:solidFill>
          <a:ln w="635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3931920"/>
            <a:ext cx="5394960" cy="502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4206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Open Sans"/>
              </a:rPr>
              <a:t>RATE LIMITS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7548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444466"/>
                </a:solidFill>
                <a:latin typeface="Open Sans"/>
              </a:rPr>
              <a:t>Same queries push you toward provider throttle thresholds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24360" y="3931920"/>
            <a:ext cx="5394960" cy="5394960"/>
          </a:xfrm>
          <a:prstGeom prst="rect">
            <a:avLst/>
          </a:prstGeom>
          <a:solidFill>
            <a:srgbClr val="F6F6F6"/>
          </a:solidFill>
          <a:ln w="635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24360" y="3931920"/>
            <a:ext cx="5394960" cy="502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298680" y="4206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Open Sans"/>
              </a:rPr>
              <a:t>LATENCY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98680" y="47548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444466"/>
                </a:solidFill>
                <a:latin typeface="Open Sans"/>
              </a:rPr>
              <a:t>30-90 s of round-trip time added per session -- for zero new information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6858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0" cy="91440"/>
          </a:xfrm>
          <a:prstGeom prst="rect">
            <a:avLst/>
          </a:prstGeom>
          <a:solidFill>
            <a:srgbClr val="171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329184"/>
            <a:ext cx="2926080" cy="347472"/>
          </a:xfrm>
          <a:prstGeom prst="rect">
            <a:avLst/>
          </a:prstGeom>
          <a:solidFill>
            <a:srgbClr val="171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36576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Open Sans"/>
              </a:rP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0" y="3840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88AA"/>
                </a:solidFill>
                <a:latin typeface="Open Sans"/>
              </a:rPr>
              <a:t>Slide 2 of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691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71A53"/>
                </a:solidFill>
                <a:latin typeface="Open Sans"/>
              </a:rPr>
              <a:t>The fix: a SHA-256 keyed SQLite cache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011680"/>
            <a:ext cx="7132320" cy="4114800"/>
          </a:xfrm>
          <a:prstGeom prst="rect">
            <a:avLst/>
          </a:prstGeom>
          <a:solidFill>
            <a:srgbClr val="F6F6F6"/>
          </a:solidFill>
          <a:ln w="635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888AA"/>
                </a:solidFill>
                <a:latin typeface="Open Sans"/>
              </a:rPr>
              <a:t>EVERY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2608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71A53"/>
                </a:solidFill>
                <a:latin typeface="Roboto Mono"/>
              </a:rPr>
              <a:t>search(q)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3192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888AA"/>
                </a:solidFill>
                <a:latin typeface="Open Sans"/>
              </a:rPr>
              <a:t>session 1  .  2  .  3  .  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4747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8888AA"/>
                </a:solidFill>
                <a:latin typeface="Roboto Mono"/>
              </a:rP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2011680"/>
            <a:ext cx="8915400" cy="4114800"/>
          </a:xfrm>
          <a:prstGeom prst="rect">
            <a:avLst/>
          </a:prstGeom>
          <a:solidFill>
            <a:srgbClr val="F6F6F6"/>
          </a:solidFill>
          <a:ln w="635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0" y="2011680"/>
            <a:ext cx="8915400" cy="50292"/>
          </a:xfrm>
          <a:prstGeom prst="rect">
            <a:avLst/>
          </a:prstGeom>
          <a:solidFill>
            <a:srgbClr val="171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228600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1A53"/>
                </a:solidFill>
                <a:latin typeface="Open Sans"/>
              </a:rPr>
              <a:t>SQLITE CACHE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0" y="2926080"/>
            <a:ext cx="4023360" cy="1234440"/>
          </a:xfrm>
          <a:prstGeom prst="rect">
            <a:avLst/>
          </a:prstGeom>
          <a:solidFill>
            <a:srgbClr val="E6FAF7"/>
          </a:solidFill>
          <a:ln w="508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18320" y="2926080"/>
            <a:ext cx="50292" cy="1234440"/>
          </a:xfrm>
          <a:prstGeom prst="rect">
            <a:avLst/>
          </a:prstGeom>
          <a:solidFill>
            <a:srgbClr val="00C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3063240"/>
            <a:ext cx="3749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7A66"/>
                </a:solidFill>
                <a:latin typeface="Open Sans"/>
              </a:rPr>
              <a:t>HIT: return stored result
0 API calls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0" y="2926080"/>
            <a:ext cx="4114800" cy="1234440"/>
          </a:xfrm>
          <a:prstGeom prst="rect">
            <a:avLst/>
          </a:prstGeom>
          <a:solidFill>
            <a:srgbClr val="FEE2E2"/>
          </a:solidFill>
          <a:ln w="508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716000" y="2926080"/>
            <a:ext cx="50292" cy="1234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898880" y="306324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91B1B"/>
                </a:solidFill>
                <a:latin typeface="Open Sans"/>
              </a:rPr>
              <a:t>MISS: call API -&gt; store -&gt; return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58368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00C5A1"/>
                </a:solidFill>
                <a:latin typeface="Open Sans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74066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444466"/>
                </a:solidFill>
                <a:latin typeface="Open Sans"/>
              </a:rPr>
              <a:t>API calls -- sessions 2 through 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7452360"/>
            <a:ext cx="2286000" cy="457200"/>
          </a:xfrm>
          <a:prstGeom prst="rect">
            <a:avLst/>
          </a:prstGeom>
          <a:solidFill>
            <a:srgbClr val="F6F6F6"/>
          </a:solidFill>
          <a:ln w="6350">
            <a:solidFill>
              <a:srgbClr val="171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75163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71A53"/>
                </a:solidFill>
                <a:latin typeface="Open Sans"/>
              </a:rPr>
              <a:t>SHA-256 key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109960" y="7452360"/>
            <a:ext cx="2286000" cy="457200"/>
          </a:xfrm>
          <a:prstGeom prst="rect">
            <a:avLst/>
          </a:prstGeom>
          <a:solidFill>
            <a:srgbClr val="F6F6F6"/>
          </a:solidFill>
          <a:ln w="6350">
            <a:solidFill>
              <a:srgbClr val="171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7120" y="75163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71A53"/>
                </a:solidFill>
                <a:latin typeface="Open Sans"/>
              </a:rPr>
              <a:t>SQLite storage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533120" y="7452360"/>
            <a:ext cx="2286000" cy="457200"/>
          </a:xfrm>
          <a:prstGeom prst="rect">
            <a:avLst/>
          </a:prstGeom>
          <a:solidFill>
            <a:srgbClr val="F6F6F6"/>
          </a:solidFill>
          <a:ln w="6350">
            <a:solidFill>
              <a:srgbClr val="00C5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670280" y="75163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C5A1"/>
                </a:solidFill>
                <a:latin typeface="Open Sans"/>
              </a:rPr>
              <a:t>TTL eviction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956280" y="7452360"/>
            <a:ext cx="2286000" cy="457200"/>
          </a:xfrm>
          <a:prstGeom prst="rect">
            <a:avLst/>
          </a:prstGeom>
          <a:solidFill>
            <a:srgbClr val="F6F6F6"/>
          </a:solidFill>
          <a:ln w="635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093440" y="75163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AA"/>
                </a:solidFill>
                <a:latin typeface="Open Sans"/>
              </a:rPr>
              <a:t>Provider-agnostic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6858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0" cy="91440"/>
          </a:xfrm>
          <a:prstGeom prst="rect">
            <a:avLst/>
          </a:prstGeom>
          <a:solidFill>
            <a:srgbClr val="171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28800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329184"/>
            <a:ext cx="2926080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36576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Open Sans"/>
              </a:rPr>
              <a:t>TRY-AND-FAIL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0" y="3840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88AA"/>
                </a:solidFill>
                <a:latin typeface="Open Sans"/>
              </a:rPr>
              <a:t>Slide 3 of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71A53"/>
                </a:solidFill>
                <a:latin typeface="Open Sans"/>
              </a:rPr>
              <a:t>Try it first -- before the explanation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011680"/>
            <a:ext cx="10515600" cy="6858000"/>
          </a:xfrm>
          <a:prstGeom prst="rect">
            <a:avLst/>
          </a:prstGeom>
          <a:solidFill>
            <a:srgbClr val="EAEEF2"/>
          </a:solidFill>
          <a:ln w="762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011680"/>
            <a:ext cx="41148" cy="6858000"/>
          </a:xfrm>
          <a:prstGeom prst="rect">
            <a:avLst/>
          </a:prstGeom>
          <a:solidFill>
            <a:srgbClr val="171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10195560" cy="6537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171A53"/>
                </a:solidFill>
                <a:latin typeface="Roboto Mono"/>
              </a:rPr>
              <a:t>api_calls = 0
def search(query, max_results=10):
    global api_calls
    api_calls += 1
    print(f'[API #{api_calls}] {query[:55]}')
    return list(DDGS().text(query, max_results=max_results))
QUERIES = [
    'transformer attention mechanisms survey',
    'KV cache optimization techniques',
    'flash attention implementation pytorch',
    'multi-head latent attention MLA',
]
for session in range(1, 4):   # 3 sessions
    for q in QUERIES:
        search(q)
print(f'Total: {api_calls} calls')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75720" y="2011680"/>
            <a:ext cx="6583680" cy="2286000"/>
          </a:xfrm>
          <a:prstGeom prst="rect">
            <a:avLst/>
          </a:prstGeom>
          <a:solidFill>
            <a:srgbClr val="F6F6F6"/>
          </a:solidFill>
          <a:ln w="508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75720" y="2011680"/>
            <a:ext cx="50292" cy="2286000"/>
          </a:xfrm>
          <a:prstGeom prst="rect">
            <a:avLst/>
          </a:prstGeom>
          <a:solidFill>
            <a:srgbClr val="171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58600" y="2148840"/>
            <a:ext cx="63093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71A53"/>
                </a:solidFill>
                <a:latin typeface="Open Sans"/>
              </a:rPr>
              <a:t>Three auto-research sessions.
Same four queries each session.
Run it -- count the API calls.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4754880"/>
            <a:ext cx="6583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71A53"/>
                </a:solidFill>
                <a:latin typeface="Open Sans"/>
              </a:rPr>
              <a:t>How many of those calls carry new information?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6858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0" cy="91440"/>
          </a:xfrm>
          <a:prstGeom prst="rect">
            <a:avLst/>
          </a:prstGeom>
          <a:solidFill>
            <a:srgbClr val="171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28800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329184"/>
            <a:ext cx="2926080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36576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Open Sans"/>
              </a:rPr>
              <a:t>TRY-AND-FAIL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0" y="3840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88AA"/>
                </a:solidFill>
                <a:latin typeface="Open Sans"/>
              </a:rPr>
              <a:t>Slide 4 of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888AA"/>
                </a:solidFill>
                <a:latin typeface="Open Sans"/>
              </a:rPr>
              <a:t>The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0" b="1" i="0">
                <a:solidFill>
                  <a:srgbClr val="DC2626"/>
                </a:solidFill>
                <a:latin typeface="Open Sans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3035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888AA"/>
                </a:solidFill>
                <a:latin typeface="Open Sans"/>
              </a:rPr>
              <a:t>total API calls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5989320"/>
            <a:ext cx="7498079" cy="3200400"/>
          </a:xfrm>
          <a:prstGeom prst="rect">
            <a:avLst/>
          </a:prstGeom>
          <a:solidFill>
            <a:srgbClr val="F6F6F6"/>
          </a:solidFill>
          <a:ln w="635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6263640"/>
            <a:ext cx="6949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444466"/>
                </a:solidFill>
                <a:latin typeface="Roboto Mono"/>
              </a:rPr>
              <a:t>4 queries x 3 sessions = 12 calls</a:t>
            </a:r>
          </a:p>
          <a:p>
            <a:r>
              <a:rPr sz="2200" b="0">
                <a:solidFill>
                  <a:srgbClr val="444466"/>
                </a:solidFill>
                <a:latin typeface="Roboto Mono"/>
              </a:rPr>
              <a:t>Novel results -- session 1:      4</a:t>
            </a:r>
          </a:p>
          <a:p>
            <a:r>
              <a:rPr sz="2200" b="0">
                <a:solidFill>
                  <a:srgbClr val="444466"/>
                </a:solidFill>
                <a:latin typeface="Roboto Mono"/>
              </a:rPr>
              <a:t>Novel results -- sessions 2-3:   0</a:t>
            </a:r>
          </a:p>
          <a:p>
            <a:r>
              <a:rPr sz="2200" b="0">
                <a:solidFill>
                  <a:srgbClr val="444466"/>
                </a:solidFill>
                <a:latin typeface="Roboto Mono"/>
              </a:rPr>
              <a:t>Redundant calls:  8  (67%)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9326880"/>
            <a:ext cx="7498079" cy="777240"/>
          </a:xfrm>
          <a:prstGeom prst="rect">
            <a:avLst/>
          </a:prstGeom>
          <a:solidFill>
            <a:srgbClr val="FEE2E2"/>
          </a:solidFill>
          <a:ln w="508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9326880"/>
            <a:ext cx="50292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9464040"/>
            <a:ext cx="72237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91B1B"/>
                </a:solidFill>
                <a:latin typeface="Open Sans"/>
              </a:rPr>
              <a:t>No exception. No warning. No log entry. The waste is completely silent.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2344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44466"/>
                </a:solidFill>
                <a:latin typeface="Open Sans"/>
              </a:rPr>
              <a:t>At production scale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828800"/>
            <a:ext cx="8686800" cy="4114800"/>
          </a:xfrm>
          <a:prstGeom prst="rect">
            <a:avLst/>
          </a:prstGeom>
          <a:solidFill>
            <a:srgbClr val="F6F6F6"/>
          </a:solidFill>
          <a:ln w="635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148840"/>
            <a:ext cx="8138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444466"/>
                </a:solidFill>
                <a:latin typeface="Roboto Mono"/>
              </a:rPr>
              <a:t>12 queries x 10 sessions</a:t>
            </a:r>
          </a:p>
          <a:p>
            <a:r>
              <a:rPr sz="2400" b="0">
                <a:solidFill>
                  <a:srgbClr val="444466"/>
                </a:solidFill>
                <a:latin typeface="Roboto Mono"/>
              </a:rPr>
              <a:t>= 108 redundant calls</a:t>
            </a:r>
          </a:p>
          <a:p>
            <a:r>
              <a:rPr sz="2400" b="0">
                <a:solidFill>
                  <a:srgbClr val="444466"/>
                </a:solidFill>
                <a:latin typeface="Roboto Mono"/>
              </a:rPr>
              <a:t>= 30-90 s added latency</a:t>
            </a:r>
          </a:p>
          <a:p>
            <a:r>
              <a:rPr sz="2400" b="0">
                <a:solidFill>
                  <a:srgbClr val="444466"/>
                </a:solidFill>
                <a:latin typeface="Roboto Mono"/>
              </a:rPr>
              <a:t>  every time auto-research runs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6126480"/>
            <a:ext cx="8686800" cy="1737360"/>
          </a:xfrm>
          <a:prstGeom prst="rect">
            <a:avLst/>
          </a:prstGeom>
          <a:solidFill>
            <a:srgbClr val="E6FAF7"/>
          </a:solidFill>
          <a:ln w="508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680" y="6126480"/>
            <a:ext cx="50292" cy="1737360"/>
          </a:xfrm>
          <a:prstGeom prst="rect">
            <a:avLst/>
          </a:prstGeom>
          <a:solidFill>
            <a:srgbClr val="00C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6263640"/>
            <a:ext cx="8412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7A66"/>
                </a:solidFill>
                <a:latin typeface="Open Sans"/>
              </a:rPr>
              <a:t>The cache eliminates this completely.
Sessions 2-N cost 0 API calls for any query already seen.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6858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0" cy="91440"/>
          </a:xfrm>
          <a:prstGeom prst="rect">
            <a:avLst/>
          </a:prstGeom>
          <a:solidFill>
            <a:srgbClr val="171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329184"/>
            <a:ext cx="2926080" cy="347472"/>
          </a:xfrm>
          <a:prstGeom prst="rect">
            <a:avLst/>
          </a:prstGeom>
          <a:solidFill>
            <a:srgbClr val="171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36576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Open Sans"/>
              </a:rPr>
              <a:t>CONCEPT: NORMALISATION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0" y="3840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88AA"/>
                </a:solidFill>
                <a:latin typeface="Open Sans"/>
              </a:rPr>
              <a:t>Slide 5 of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691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71A53"/>
                </a:solidFill>
                <a:latin typeface="Open Sans"/>
              </a:rPr>
              <a:t>Core insight: SHA-256 is deterministic -- and case-sensitive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011680"/>
            <a:ext cx="16916400" cy="1463040"/>
          </a:xfrm>
          <a:prstGeom prst="rect">
            <a:avLst/>
          </a:prstGeom>
          <a:solidFill>
            <a:srgbClr val="F6F6F6"/>
          </a:solidFill>
          <a:ln w="508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011680"/>
            <a:ext cx="50292" cy="1463040"/>
          </a:xfrm>
          <a:prstGeom prst="rect">
            <a:avLst/>
          </a:prstGeom>
          <a:solidFill>
            <a:srgbClr val="171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71A53"/>
                </a:solidFill>
                <a:latin typeface="Open Sans"/>
              </a:rPr>
              <a:t>Same bytes -&gt; same digest. Always. But a single uppercase letter or an extra space produces a completely different 256-bit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794760"/>
            <a:ext cx="16916400" cy="2560320"/>
          </a:xfrm>
          <a:prstGeom prst="rect">
            <a:avLst/>
          </a:prstGeom>
          <a:solidFill>
            <a:srgbClr val="EAEEF2"/>
          </a:solidFill>
          <a:ln w="762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794760"/>
            <a:ext cx="41148" cy="2560320"/>
          </a:xfrm>
          <a:prstGeom prst="rect">
            <a:avLst/>
          </a:prstGeom>
          <a:solidFill>
            <a:srgbClr val="171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16596360" cy="2240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71A53"/>
                </a:solidFill>
                <a:latin typeface="Roboto Mono"/>
              </a:rPr>
              <a:t># Without normalisation -- three different cache keys:
sha256('Flash Attention')    = 'a1b2c3...'   # session 1
sha256('flash attention')    = '9f8e7d...'   # different!
sha256('flash  attention')   = '4d5e6f...'   # extra space = third key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6583680"/>
            <a:ext cx="16916400" cy="1463040"/>
          </a:xfrm>
          <a:prstGeom prst="rect">
            <a:avLst/>
          </a:prstGeom>
          <a:solidFill>
            <a:srgbClr val="FEE2E2"/>
          </a:solidFill>
          <a:ln w="508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6583680"/>
            <a:ext cx="50292" cy="1463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6720840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991B1B"/>
                </a:solidFill>
                <a:latin typeface="Open Sans"/>
              </a:rPr>
              <a:t>Semantically identical queries -&gt; different cache keys -&gt; cache always misses. Every session makes the full API call.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6858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0" cy="91440"/>
          </a:xfrm>
          <a:prstGeom prst="rect">
            <a:avLst/>
          </a:prstGeom>
          <a:solidFill>
            <a:srgbClr val="171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329184"/>
            <a:ext cx="2926080" cy="347472"/>
          </a:xfrm>
          <a:prstGeom prst="rect">
            <a:avLst/>
          </a:prstGeom>
          <a:solidFill>
            <a:srgbClr val="171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36576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Open Sans"/>
              </a:rPr>
              <a:t>CONCEPT: NORMALISATION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0" y="3840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88AA"/>
                </a:solidFill>
                <a:latin typeface="Open Sans"/>
              </a:rPr>
              <a:t>Slide 6 of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691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71A53"/>
                </a:solidFill>
                <a:latin typeface="Open Sans"/>
              </a:rPr>
              <a:t>The normalisation pipeline -- three 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011680"/>
            <a:ext cx="5486400" cy="3566160"/>
          </a:xfrm>
          <a:prstGeom prst="rect">
            <a:avLst/>
          </a:prstGeom>
          <a:solidFill>
            <a:srgbClr val="F6F6F6"/>
          </a:solidFill>
          <a:ln w="635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011680"/>
            <a:ext cx="5486400" cy="50292"/>
          </a:xfrm>
          <a:prstGeom prst="rect">
            <a:avLst/>
          </a:prstGeom>
          <a:solidFill>
            <a:srgbClr val="201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015FF"/>
                </a:solidFill>
                <a:latin typeface="Open Sans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3464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1A53"/>
                </a:solidFill>
                <a:latin typeface="Roboto Mono"/>
              </a:rPr>
              <a:t>.lower()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490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66"/>
                </a:solidFill>
                <a:latin typeface="Open Sans"/>
              </a:rPr>
              <a:t>Folds ALL uppercase to lowercase.
'Flash' -&gt; 'flash'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011680"/>
            <a:ext cx="5486400" cy="3566160"/>
          </a:xfrm>
          <a:prstGeom prst="rect">
            <a:avLst/>
          </a:prstGeom>
          <a:solidFill>
            <a:srgbClr val="F6F6F6"/>
          </a:solidFill>
          <a:ln w="635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2011680"/>
            <a:ext cx="5486400" cy="50292"/>
          </a:xfrm>
          <a:prstGeom prst="rect">
            <a:avLst/>
          </a:prstGeom>
          <a:solidFill>
            <a:srgbClr val="00C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286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5A1"/>
                </a:solidFill>
                <a:latin typeface="Open Sans"/>
              </a:rPr>
              <a:t>STEP 2 -- KEY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83464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1A53"/>
                </a:solidFill>
                <a:latin typeface="Roboto Mono"/>
              </a:rPr>
              <a:t>.split()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7490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66"/>
                </a:solidFill>
                <a:latin typeface="Open Sans"/>
              </a:rPr>
              <a:t>Splits on ANY whitespace: tabs, double spaces, newlines.
No argument = all whitespace.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298680" y="2011680"/>
            <a:ext cx="5486400" cy="3566160"/>
          </a:xfrm>
          <a:prstGeom prst="rect">
            <a:avLst/>
          </a:prstGeom>
          <a:solidFill>
            <a:srgbClr val="F6F6F6"/>
          </a:solidFill>
          <a:ln w="635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298680" y="2011680"/>
            <a:ext cx="5486400" cy="50292"/>
          </a:xfrm>
          <a:prstGeom prst="rect">
            <a:avLst/>
          </a:prstGeom>
          <a:solidFill>
            <a:srgbClr val="201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573000" y="2286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015FF"/>
                </a:solidFill>
                <a:latin typeface="Open Sans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73000" y="283464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1A53"/>
                </a:solidFill>
                <a:latin typeface="Roboto Mono"/>
              </a:rPr>
              <a:t> .join()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73000" y="37490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66"/>
                </a:solidFill>
                <a:latin typeface="Open Sans"/>
              </a:rPr>
              <a:t>Rejoins with exactly one space.
Canonical form guaranteed.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943600"/>
            <a:ext cx="16916400" cy="1691640"/>
          </a:xfrm>
          <a:prstGeom prst="rect">
            <a:avLst/>
          </a:prstGeom>
          <a:solidFill>
            <a:srgbClr val="EAEEF2"/>
          </a:solidFill>
          <a:ln w="762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5943600"/>
            <a:ext cx="41148" cy="1691640"/>
          </a:xfrm>
          <a:prstGeom prst="rect">
            <a:avLst/>
          </a:prstGeom>
          <a:solidFill>
            <a:srgbClr val="171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6126480"/>
            <a:ext cx="16596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171A53"/>
                </a:solidFill>
                <a:latin typeface="Roboto Mono"/>
              </a:rPr>
              <a:t>def _cache_key(query: str) -&gt; str:
    normalised = ' '.join(query.lower().split())
    return hashlib.sha256(normalised.encode()).hexdigest()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7818120"/>
            <a:ext cx="16916400" cy="1234440"/>
          </a:xfrm>
          <a:prstGeom prst="rect">
            <a:avLst/>
          </a:prstGeom>
          <a:solidFill>
            <a:srgbClr val="E6FAF7"/>
          </a:solidFill>
          <a:ln w="508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7818120"/>
            <a:ext cx="50292" cy="1234440"/>
          </a:xfrm>
          <a:prstGeom prst="rect">
            <a:avLst/>
          </a:prstGeom>
          <a:solidFill>
            <a:srgbClr val="00C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7955280"/>
            <a:ext cx="1664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7A66"/>
                </a:solidFill>
                <a:latin typeface="Open Sans"/>
              </a:rPr>
              <a:t>Rule: every cache key derived from user input should normalise before hashing. Applies to databases, rate-limiters, and dedup systems alike.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6858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0" cy="91440"/>
          </a:xfrm>
          <a:prstGeom prst="rect">
            <a:avLst/>
          </a:prstGeom>
          <a:solidFill>
            <a:srgbClr val="171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329184"/>
            <a:ext cx="2926080" cy="347472"/>
          </a:xfrm>
          <a:prstGeom prst="rect">
            <a:avLst/>
          </a:prstGeom>
          <a:solidFill>
            <a:srgbClr val="171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36576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Open Sans"/>
              </a:rPr>
              <a:t>DEMO: cached_search()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0" y="3840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88AA"/>
                </a:solidFill>
                <a:latin typeface="Open Sans"/>
              </a:rPr>
              <a:t>Slide 7 of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71A53"/>
                </a:solidFill>
                <a:latin typeface="Open Sans"/>
              </a:rPr>
              <a:t>The public interface -- four lines of logic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011680"/>
            <a:ext cx="10515600" cy="6995160"/>
          </a:xfrm>
          <a:prstGeom prst="rect">
            <a:avLst/>
          </a:prstGeom>
          <a:solidFill>
            <a:srgbClr val="EAEEF2"/>
          </a:solidFill>
          <a:ln w="762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011680"/>
            <a:ext cx="41148" cy="6995160"/>
          </a:xfrm>
          <a:prstGeom prst="rect">
            <a:avLst/>
          </a:prstGeom>
          <a:solidFill>
            <a:srgbClr val="171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10195560" cy="6675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171A53"/>
                </a:solidFill>
                <a:latin typeface="Roboto Mono"/>
              </a:rPr>
              <a:t>def cached_search(
    query: str,
    search_fn: Callable[[str, int], list[dict]],
    ttl: int = DEFAULT_TTL,
    max_results: int = 10,
) -&gt; list[dict]:
    # HIT path
    cached = get(query)
    if cached is not None:
        print(f'[cache HIT ] {query[:55]}')
        return cached
    # MISS path
    print(f'[cache MISS] {query[:55]}')
    results = search_fn(query, max_results)
    if results:               # never cache empty
        put(query, results, ttl=ttl)
    return 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75720" y="2011680"/>
            <a:ext cx="6583680" cy="2377440"/>
          </a:xfrm>
          <a:prstGeom prst="rect">
            <a:avLst/>
          </a:prstGeom>
          <a:solidFill>
            <a:srgbClr val="E6FAF7"/>
          </a:solidFill>
          <a:ln w="508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75720" y="2011680"/>
            <a:ext cx="50292" cy="2377440"/>
          </a:xfrm>
          <a:prstGeom prst="rect">
            <a:avLst/>
          </a:prstGeom>
          <a:solidFill>
            <a:srgbClr val="00C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58600" y="2148840"/>
            <a:ext cx="63093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7A66"/>
                </a:solidFill>
                <a:latin typeface="Open Sans"/>
              </a:rPr>
              <a:t>HIT path:
get() returns stored results.
No network call. Instant return.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75720" y="4846320"/>
            <a:ext cx="6583680" cy="2377440"/>
          </a:xfrm>
          <a:prstGeom prst="rect">
            <a:avLst/>
          </a:prstGeom>
          <a:solidFill>
            <a:srgbClr val="FEE2E2"/>
          </a:solidFill>
          <a:ln w="508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75720" y="4846320"/>
            <a:ext cx="50292" cy="2377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58600" y="4983480"/>
            <a:ext cx="63093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91B1B"/>
                </a:solidFill>
                <a:latin typeface="Open Sans"/>
              </a:rPr>
              <a:t>MISS path:
Call the search provider.
Store in cache. Return results.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75720" y="7498079"/>
            <a:ext cx="6583680" cy="1508760"/>
          </a:xfrm>
          <a:prstGeom prst="rect">
            <a:avLst/>
          </a:prstGeom>
          <a:solidFill>
            <a:srgbClr val="F6F6F6"/>
          </a:solidFill>
          <a:ln w="635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50040" y="768096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888AA"/>
                </a:solidFill>
                <a:latin typeface="Open Sans"/>
              </a:rPr>
              <a:t>ONE-LINE CALLSITE 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50040" y="8092440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71A53"/>
                </a:solidFill>
                <a:latin typeface="Roboto Mono"/>
              </a:rPr>
              <a:t>search(q)  -&gt;  cached_search(q, search_fn=search)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6858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0" cy="91440"/>
          </a:xfrm>
          <a:prstGeom prst="rect">
            <a:avLst/>
          </a:prstGeom>
          <a:solidFill>
            <a:srgbClr val="171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329184"/>
            <a:ext cx="2926080" cy="347472"/>
          </a:xfrm>
          <a:prstGeom prst="rect">
            <a:avLst/>
          </a:prstGeom>
          <a:solidFill>
            <a:srgbClr val="171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36576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Open Sans"/>
              </a:rPr>
              <a:t>DEMO: cached_search()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0" y="3840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88AA"/>
                </a:solidFill>
                <a:latin typeface="Open Sans"/>
              </a:rPr>
              <a:t>Slide 8 of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691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71A53"/>
                </a:solidFill>
                <a:latin typeface="Open Sans"/>
              </a:rPr>
              <a:t>4 design choices in cached_search()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011680"/>
            <a:ext cx="8321040" cy="3566160"/>
          </a:xfrm>
          <a:prstGeom prst="rect">
            <a:avLst/>
          </a:prstGeom>
          <a:solidFill>
            <a:srgbClr val="F6F6F6"/>
          </a:solidFill>
          <a:ln w="635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011680"/>
            <a:ext cx="8321040" cy="50292"/>
          </a:xfrm>
          <a:prstGeom prst="rect">
            <a:avLst/>
          </a:prstGeom>
          <a:solidFill>
            <a:srgbClr val="201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015FF"/>
                </a:solidFill>
                <a:latin typeface="Open Sans"/>
              </a:rPr>
              <a:t>1 -- search_fn: Callable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80360"/>
            <a:ext cx="77724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444466"/>
                </a:solidFill>
                <a:latin typeface="Open Sans"/>
              </a:rPr>
              <a:t>Provider-agnostic. Pass DDGS, Tavily, Bing, or a test stub.
The cache doesn't care which search backend you use.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2011680"/>
            <a:ext cx="8321040" cy="3566160"/>
          </a:xfrm>
          <a:prstGeom prst="rect">
            <a:avLst/>
          </a:prstGeom>
          <a:solidFill>
            <a:srgbClr val="F6F6F6"/>
          </a:solidFill>
          <a:ln w="635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2011680"/>
            <a:ext cx="8321040" cy="50292"/>
          </a:xfrm>
          <a:prstGeom prst="rect">
            <a:avLst/>
          </a:prstGeom>
          <a:solidFill>
            <a:srgbClr val="00C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860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5A1"/>
                </a:solidFill>
                <a:latin typeface="Open Sans"/>
              </a:rPr>
              <a:t>2 -- Never cache empty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880360"/>
            <a:ext cx="77724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444466"/>
                </a:solidFill>
                <a:latin typeface="Open Sans"/>
              </a:rPr>
              <a:t>if results: put(...)  An empty list usually means the API failed or returned nothing. Caching it blocks retries for the full TTL window.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217920"/>
            <a:ext cx="8321040" cy="3566160"/>
          </a:xfrm>
          <a:prstGeom prst="rect">
            <a:avLst/>
          </a:prstGeom>
          <a:solidFill>
            <a:srgbClr val="F6F6F6"/>
          </a:solidFill>
          <a:ln w="635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6217920"/>
            <a:ext cx="8321040" cy="50292"/>
          </a:xfrm>
          <a:prstGeom prst="rect">
            <a:avLst/>
          </a:prstGeom>
          <a:solidFill>
            <a:srgbClr val="201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64922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015FF"/>
                </a:solidFill>
                <a:latin typeface="Open Sans"/>
              </a:rPr>
              <a:t>3 -- TTL per 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7086600"/>
            <a:ext cx="77724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444466"/>
                </a:solidFill>
                <a:latin typeface="Open Sans"/>
              </a:rPr>
              <a:t>Short TTL for breaking news queries.
Long TTL for evergreen research topics.
Default: 86400 s (24 h).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6217920"/>
            <a:ext cx="8321040" cy="3566160"/>
          </a:xfrm>
          <a:prstGeom prst="rect">
            <a:avLst/>
          </a:prstGeom>
          <a:solidFill>
            <a:srgbClr val="F6F6F6"/>
          </a:solidFill>
          <a:ln w="635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09760" y="6217920"/>
            <a:ext cx="8321040" cy="50292"/>
          </a:xfrm>
          <a:prstGeom prst="rect">
            <a:avLst/>
          </a:prstGeom>
          <a:solidFill>
            <a:srgbClr val="00C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64922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5A1"/>
                </a:solidFill>
                <a:latin typeface="Open Sans"/>
              </a:rPr>
              <a:t>4 -- Structured HIT/MISS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7086600"/>
            <a:ext cx="77724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444466"/>
                </a:solidFill>
                <a:latin typeface="Open Sans"/>
              </a:rPr>
              <a:t>[cache HIT ] / [cache MISS]  Structured labels that survive log aggregation. Easy to grep across multi-session logs to measure hit rate.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6858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0" cy="91440"/>
          </a:xfrm>
          <a:prstGeom prst="rect">
            <a:avLst/>
          </a:prstGeom>
          <a:solidFill>
            <a:srgbClr val="171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329184"/>
            <a:ext cx="2926080" cy="347472"/>
          </a:xfrm>
          <a:prstGeom prst="rect">
            <a:avLst/>
          </a:prstGeom>
          <a:solidFill>
            <a:srgbClr val="171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36576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Open Sans"/>
              </a:rPr>
              <a:t>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0" y="3840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88AA"/>
                </a:solidFill>
                <a:latin typeface="Open Sans"/>
              </a:rPr>
              <a:t>Slide 9 of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16916400" cy="2011680"/>
          </a:xfrm>
          <a:prstGeom prst="rect">
            <a:avLst/>
          </a:prstGeom>
          <a:solidFill>
            <a:srgbClr val="F6F6F6"/>
          </a:solidFill>
          <a:ln w="635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17320"/>
            <a:ext cx="1636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71A53"/>
                </a:solidFill>
                <a:latin typeface="Open Sans"/>
              </a:rPr>
              <a:t>Your cached_search() uses SHA-256 of the raw query string. A user submits "Flash Attention" in session 1 and "flash attention" in session 2. The cache returns MISS and makes a second API call. What is the root cause and the correct fix?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474720"/>
            <a:ext cx="16916400" cy="1371600"/>
          </a:xfrm>
          <a:prstGeom prst="rect">
            <a:avLst/>
          </a:prstGeom>
          <a:solidFill>
            <a:srgbClr val="F6F6F6"/>
          </a:solidFill>
          <a:ln w="9525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474720"/>
            <a:ext cx="548640" cy="1371600"/>
          </a:xfrm>
          <a:prstGeom prst="rect">
            <a:avLst/>
          </a:prstGeom>
          <a:solidFill>
            <a:srgbClr val="DB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79476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Open San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703320"/>
            <a:ext cx="16002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66"/>
                </a:solidFill>
                <a:latin typeface="Open Sans"/>
              </a:rPr>
              <a:t>Use SQLite LIKE instead of WHERE key=? so the lookup is case-insensitive.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5029200"/>
            <a:ext cx="16916400" cy="1371600"/>
          </a:xfrm>
          <a:prstGeom prst="rect">
            <a:avLst/>
          </a:prstGeom>
          <a:solidFill>
            <a:srgbClr val="E6FAF7"/>
          </a:solidFill>
          <a:ln w="9525">
            <a:solidFill>
              <a:srgbClr val="00C5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5029200"/>
            <a:ext cx="548640" cy="1371600"/>
          </a:xfrm>
          <a:prstGeom prst="rect">
            <a:avLst/>
          </a:prstGeom>
          <a:solidFill>
            <a:srgbClr val="00C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534924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Open Sans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257800"/>
            <a:ext cx="16002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7A66"/>
                </a:solidFill>
                <a:latin typeface="Open Sans"/>
              </a:rPr>
              <a:t>Key computed from the raw string. Fix: normalise with ' '.join(query.lower().split()) before hashing.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6583679"/>
            <a:ext cx="16916400" cy="1371600"/>
          </a:xfrm>
          <a:prstGeom prst="rect">
            <a:avLst/>
          </a:prstGeom>
          <a:solidFill>
            <a:srgbClr val="F6F6F6"/>
          </a:solidFill>
          <a:ln w="9525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6583679"/>
            <a:ext cx="548640" cy="1371600"/>
          </a:xfrm>
          <a:prstGeom prst="rect">
            <a:avLst/>
          </a:prstGeom>
          <a:solidFill>
            <a:srgbClr val="DB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6903719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Open Sans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6812279"/>
            <a:ext cx="16002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66"/>
                </a:solidFill>
                <a:latin typeface="Open Sans"/>
              </a:rPr>
              <a:t>Increase the TTL so the second session is more likely to find a live entry.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8138159"/>
            <a:ext cx="16916400" cy="1371600"/>
          </a:xfrm>
          <a:prstGeom prst="rect">
            <a:avLst/>
          </a:prstGeom>
          <a:solidFill>
            <a:srgbClr val="F6F6F6"/>
          </a:solidFill>
          <a:ln w="9525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8138159"/>
            <a:ext cx="548640" cy="1371600"/>
          </a:xfrm>
          <a:prstGeom prst="rect">
            <a:avLst/>
          </a:prstGeom>
          <a:solidFill>
            <a:srgbClr val="DB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8458199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Open Sans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8366759"/>
            <a:ext cx="16002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66"/>
                </a:solidFill>
                <a:latin typeface="Open Sans"/>
              </a:rPr>
              <a:t>Store the raw query string as the key instead of a hash.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6858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0" cy="91440"/>
          </a:xfrm>
          <a:prstGeom prst="rect">
            <a:avLst/>
          </a:prstGeom>
          <a:solidFill>
            <a:srgbClr val="171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288000" cy="91440"/>
          </a:xfrm>
          <a:prstGeom prst="rect">
            <a:avLst/>
          </a:prstGeom>
          <a:solidFill>
            <a:srgbClr val="00C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329184"/>
            <a:ext cx="2926080" cy="347472"/>
          </a:xfrm>
          <a:prstGeom prst="rect">
            <a:avLst/>
          </a:prstGeom>
          <a:solidFill>
            <a:srgbClr val="00C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36576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Open Sans"/>
              </a:rPr>
              <a:t>RECAP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0" y="3840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88AA"/>
                </a:solidFill>
                <a:latin typeface="Open Sans"/>
              </a:rPr>
              <a:t>Slide 10 of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1691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71A53"/>
                </a:solidFill>
                <a:latin typeface="Open Sans"/>
              </a:rPr>
              <a:t>What you can do now that you couldn't before: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23160"/>
            <a:ext cx="109728" cy="109728"/>
          </a:xfrm>
          <a:prstGeom prst="rect">
            <a:avLst/>
          </a:prstGeom>
          <a:solidFill>
            <a:srgbClr val="00C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71A53"/>
                </a:solidFill>
                <a:latin typeface="Open Sans"/>
              </a:rPr>
              <a:t>Explain: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60320"/>
            <a:ext cx="1655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444466"/>
                </a:solidFill>
                <a:latin typeface="Open Sans"/>
              </a:rPr>
              <a:t>Why repeated auto-research queries waste API calls across sessions and why the failure is silent.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977640"/>
            <a:ext cx="109728" cy="109728"/>
          </a:xfrm>
          <a:prstGeom prst="rect">
            <a:avLst/>
          </a:prstGeom>
          <a:solidFill>
            <a:srgbClr val="00C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5661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71A53"/>
                </a:solidFill>
                <a:latin typeface="Open Sans"/>
              </a:rPr>
              <a:t>Normalise: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14800"/>
            <a:ext cx="1655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444466"/>
                </a:solidFill>
                <a:latin typeface="Open Sans"/>
              </a:rPr>
              <a:t>Queries with ' '.join(query.lower().split()) before SHA-256 -- same intent always maps to the same cache key.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532120"/>
            <a:ext cx="109728" cy="109728"/>
          </a:xfrm>
          <a:prstGeom prst="rect">
            <a:avLst/>
          </a:prstGeom>
          <a:solidFill>
            <a:srgbClr val="00C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120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71A53"/>
                </a:solidFill>
                <a:latin typeface="Open Sans"/>
              </a:rPr>
              <a:t>Implement: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669280"/>
            <a:ext cx="1655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444466"/>
                </a:solidFill>
                <a:latin typeface="Open Sans"/>
              </a:rPr>
              <a:t>get() with expiry check and put() with upsert + inline eviction.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7086600"/>
            <a:ext cx="109728" cy="109728"/>
          </a:xfrm>
          <a:prstGeom prst="rect">
            <a:avLst/>
          </a:prstGeom>
          <a:solidFill>
            <a:srgbClr val="00C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6675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71A53"/>
                </a:solidFill>
                <a:latin typeface="Open Sans"/>
              </a:rPr>
              <a:t>Wrap: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7223760"/>
            <a:ext cx="1655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444466"/>
                </a:solidFill>
                <a:latin typeface="Open Sans"/>
              </a:rPr>
              <a:t>Any search callable with cached_search(q, search_fn) in a one-line change -- provider-agnostic and TTL-tunable.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8503920"/>
            <a:ext cx="16916400" cy="1417320"/>
          </a:xfrm>
          <a:prstGeom prst="rect">
            <a:avLst/>
          </a:prstGeom>
          <a:solidFill>
            <a:srgbClr val="E6FAF7"/>
          </a:solidFill>
          <a:ln w="5080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8503920"/>
            <a:ext cx="50292" cy="1417320"/>
          </a:xfrm>
          <a:prstGeom prst="rect">
            <a:avLst/>
          </a:prstGeom>
          <a:solidFill>
            <a:srgbClr val="00C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8641080"/>
            <a:ext cx="1664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 i="0">
                <a:solidFill>
                  <a:srgbClr val="007A66"/>
                </a:solidFill>
                <a:latin typeface="Open Sans"/>
              </a:rPr>
              <a:t>Sessions 2-N: 0 API calls for any repeated query.  A 12-query loop x 10 sessions = 108 API calls saved per topic per day.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6858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0" cy="91440"/>
          </a:xfrm>
          <a:prstGeom prst="rect">
            <a:avLst/>
          </a:prstGeom>
          <a:solidFill>
            <a:srgbClr val="171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288000" cy="91440"/>
          </a:xfrm>
          <a:prstGeom prst="rect">
            <a:avLst/>
          </a:prstGeom>
          <a:solidFill>
            <a:srgbClr val="00C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291840"/>
            <a:ext cx="1828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71A53"/>
                </a:solidFill>
                <a:latin typeface="Open Sans"/>
              </a:rPr>
              <a:t>Thank you for watching.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937760"/>
            <a:ext cx="1828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444466"/>
                </a:solidFill>
                <a:latin typeface="Open Sans"/>
              </a:rPr>
              <a:t>Lesson materials -- starter code &amp; solution -- in micro-lesson/course-4/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943600"/>
            <a:ext cx="1828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C5A1"/>
                </a:solidFill>
                <a:latin typeface="Open Sans"/>
              </a:rPr>
              <a:t>See you in the next lesson.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